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0" r:id="rId21"/>
    <p:sldId id="271" r:id="rId22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23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slide" Target="slides/slide16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5.png"/><Relationship Id="rId2" Type="http://schemas.openxmlformats.org/officeDocument/2006/relationships/image" Target="../media/image-4-3.png"/><Relationship Id="rId3" Type="http://schemas.openxmlformats.org/officeDocument/2006/relationships/image" Target="../media/image-11-4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1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2B26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852160"/>
            <a:ext cx="12191695" cy="502920"/>
          </a:xfrm>
          <a:prstGeom prst="rect">
            <a:avLst/>
          </a:prstGeom>
          <a:solidFill>
            <a:srgbClr val="332D2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349240"/>
            <a:ext cx="12191695" cy="502920"/>
          </a:xfrm>
          <a:prstGeom prst="rect">
            <a:avLst/>
          </a:prstGeom>
          <a:solidFill>
            <a:srgbClr val="3B34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BEDROCK OS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868680" y="3520440"/>
            <a:ext cx="822960" cy="54864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703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8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operating system, built from the ground up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 Special Project (OSSP)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91640" y="15819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Bedrock 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91640" y="19293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and scope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6364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132320" y="15819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Related Work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0" y="19293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 one, and prior work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91640" y="29992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91640" y="33467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layers fit together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3017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132320" y="29992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Boot, Memory &amp; Scheduling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2320" y="33467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kernel subsystems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434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691640" y="44165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Challenges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47640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used, lessons learned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4434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132320" y="44165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Roadmap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32320" y="47640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0"/>
            <a:ext cx="4693615" cy="6858000"/>
          </a:xfrm>
          <a:prstGeom prst="rect">
            <a:avLst/>
          </a:prstGeom>
          <a:solidFill>
            <a:srgbClr val="211D1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Bedrock OS?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630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OS is a small, hobby-scale operating system built to run directly on hardware (or a hypervisor) without relying on an existing kernel. The project covers the full stack a real OS needs — bootloader, kernel, memory manager, scheduler and a basic shell — implemented from first principles.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 on bare metal / QEMU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primarily in C, with x86 assembly at the boot layer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kernel, small and auditable footprint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as a learning-first, foundation-first system — hence “Bedrock”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863840" y="246888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i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“START SMALL.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i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SOLID.”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863840" y="411480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philosophy: every subsystem is minimal, correct, and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8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before the next layer is added.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1704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 an operating system from scratch?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rgbClr val="4A433D"/>
          </a:solidFill>
          <a:ln/>
        </p:spPr>
      </p:sp>
      <p:pic>
        <p:nvPicPr>
          <p:cNvPr id="5" name="Image 0" descr="/home/claude/bedrock_ppt/icon_targ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11226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93852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Demystify the black box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00200" y="2295144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really happens between power-on and a login prompt — no framework hides the details.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3337560"/>
            <a:ext cx="566928" cy="566928"/>
          </a:xfrm>
          <a:prstGeom prst="ellipse">
            <a:avLst/>
          </a:prstGeom>
          <a:solidFill>
            <a:srgbClr val="4A433D"/>
          </a:solidFill>
          <a:ln/>
        </p:spPr>
      </p:sp>
      <p:pic>
        <p:nvPicPr>
          <p:cNvPr id="9" name="Image 1" descr="/home/claude/bedrock_ppt/icon_cpu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348386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331012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Systems-level fluency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00200" y="3666744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exposure to CPU modes, interrupts, paging and hardware I/O that application-level work never touches.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22960" y="4709160"/>
            <a:ext cx="566928" cy="566928"/>
          </a:xfrm>
          <a:prstGeom prst="ellipse">
            <a:avLst/>
          </a:prstGeom>
          <a:solidFill>
            <a:srgbClr val="4A433D"/>
          </a:solidFill>
          <a:ln/>
        </p:spPr>
      </p:sp>
      <p:pic>
        <p:nvPicPr>
          <p:cNvPr id="13" name="Image 2" descr="/home/claude/bedrock_ppt/icon_lay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85546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468172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before features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600200" y="5038344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tiny, correct kernel is a better teacher than a large one — every layer is small enough to fully reason about.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178308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5" name="Image 0" descr="/home/claude/bedrock_ppt/icon_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192938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8013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reliably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280" y="246888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bootloader that loads the kernel into protected mode on real or virtual x86 hardware.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50876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37960" y="178308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0" name="Image 1" descr="/home/claude/bedrock_ppt/icon_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64" y="192938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0" y="18013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memory safely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37960" y="246888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+ virtual memory management with paging, and a simple heap allocator.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22960" y="379476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097280" y="406908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5" name="Image 2" descr="/home/claude/bedrock_ppt/icon_setting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421538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74520" y="40873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processes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097280" y="475488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Preemptive scheduling with context switching across multiple concurrent tasks.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63640" y="379476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37960" y="406908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20" name="Image 3" descr="/home/claude/bedrock_ppt/icon_termina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215384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15200" y="40873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usable shell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537960" y="475488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command shell for interacting with the running system and its files.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7280" y="178308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5" name="Image 0" descr="/home/claude/bedrock_ppt/icon_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192938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8013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xv6 (MIT)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280" y="246888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~9,000-line teaching kernel for MIT's 6.828 course, small enough to read end to end — but it hands students a working system to study, not one to build.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50876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37960" y="178308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0" name="Image 1" descr="/home/claude/bedrock_ppt/icon_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264" y="192938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0" y="18013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MINIX (Tanenbaum)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37960" y="246888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as a teaching microkernel; once it gained research funding its scope and codebase grew well past what one learner can fully trace.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22960" y="379476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097280" y="406908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5" name="Image 2" descr="/home/claude/bedrock_ppt/icon_setting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421538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74520" y="40873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Hobbyist OS Movement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097280" y="475488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SerenityOS, ToaruOS and the wider OSDev community show many from-scratch kernels, most racing toward a full GUI and userland over a small, verifiable core.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63640" y="379476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37960" y="4069080"/>
            <a:ext cx="566928" cy="566928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20" name="Image 3" descr="/home/claude/bedrock_ppt/icon_termina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215384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15200" y="408736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Textbooks &amp; Wikis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537960" y="475488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like OSTEP and the OSDev wiki explain concepts clearly but leave the disciplined, layer-by-layer build-and-verify process to the reader.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Gaps Identified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50749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43000" y="169164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in Existing Work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3000" y="237744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xv6 and MINIX hand learners a working kernel to read, not one they build themselves from zero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143000" y="342900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MINIX matured into a funded research system, its codebase outgrew what one person can fully audit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43000" y="448056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Hobbyist OS projects mostly optimize for feature breadth and GUI polish over a minimal, verifiable core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074920" cy="4297680"/>
          </a:xfrm>
          <a:prstGeom prst="roundRect">
            <a:avLst>
              <a:gd name="adj" fmla="val 1702"/>
            </a:avLst>
          </a:prstGeom>
          <a:solidFill>
            <a:srgbClr val="4A433D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69164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Bedrock OS Responds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37744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subsystem is written and verified by the author, from bootloader to shell, first-hand rather than from a supplied kernel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0" y="342900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stays deliberately small — a footprint one person can still fully read and reason about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0" y="448056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is built minimal, correct and documented before the next is added, per the project's own philosophy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1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1155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layers, like rock strata — each level rests on the one below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8595360" cy="713232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783080"/>
            <a:ext cx="7955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Shell &amp; Utilities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551176"/>
            <a:ext cx="8595360" cy="713232"/>
          </a:xfrm>
          <a:prstGeom prst="rect">
            <a:avLst/>
          </a:prstGeom>
          <a:solidFill>
            <a:srgbClr val="C88A47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551176"/>
            <a:ext cx="7955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 / Kernel API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319272"/>
            <a:ext cx="8595360" cy="713232"/>
          </a:xfrm>
          <a:prstGeom prst="rect">
            <a:avLst/>
          </a:prstGeom>
          <a:solidFill>
            <a:srgbClr val="A9764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319272"/>
            <a:ext cx="7955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Scheduler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087368"/>
            <a:ext cx="8595360" cy="713232"/>
          </a:xfrm>
          <a:prstGeom prst="rect">
            <a:avLst/>
          </a:prstGeom>
          <a:solidFill>
            <a:srgbClr val="826257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087368"/>
            <a:ext cx="7955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Manager (paging, heap)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855464"/>
            <a:ext cx="8595360" cy="713232"/>
          </a:xfrm>
          <a:prstGeom prst="rect">
            <a:avLst/>
          </a:prstGeom>
          <a:solidFill>
            <a:srgbClr val="5E4C46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855464"/>
            <a:ext cx="7955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(keyboard, VGA, disk)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5623560"/>
            <a:ext cx="8595360" cy="713232"/>
          </a:xfrm>
          <a:prstGeom prst="rect">
            <a:avLst/>
          </a:prstGeom>
          <a:solidFill>
            <a:srgbClr val="3A322D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5623560"/>
            <a:ext cx="7955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Bootloader (x86 real → protected mode)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6437376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921240" y="1691640"/>
            <a:ext cx="0" cy="4736592"/>
          </a:xfrm>
          <a:prstGeom prst="line">
            <a:avLst/>
          </a:prstGeom>
          <a:noFill/>
          <a:ln w="12700">
            <a:solidFill>
              <a:srgbClr val="4A433D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0104120" y="31089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layers are closer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8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hardware and were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8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— and had to be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A8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— first.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Boot Process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1704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power-on to a running kernel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74520" y="2578608"/>
            <a:ext cx="8412480" cy="0"/>
          </a:xfrm>
          <a:prstGeom prst="line">
            <a:avLst/>
          </a:prstGeom>
          <a:noFill/>
          <a:ln w="25400">
            <a:solidFill>
              <a:srgbClr val="8A81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0472" y="2194560"/>
            <a:ext cx="768096" cy="768096"/>
          </a:xfrm>
          <a:prstGeom prst="ellipse">
            <a:avLst/>
          </a:prstGeom>
          <a:solidFill>
            <a:srgbClr val="E8963C"/>
          </a:solidFill>
          <a:ln/>
        </p:spPr>
      </p:sp>
      <p:sp>
        <p:nvSpPr>
          <p:cNvPr id="6" name="Text 4"/>
          <p:cNvSpPr/>
          <p:nvPr/>
        </p:nvSpPr>
        <p:spPr>
          <a:xfrm>
            <a:off x="1490472" y="21945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14553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/ UEFI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675888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self-test, then hands control to the boot sector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93592" y="2194560"/>
            <a:ext cx="768096" cy="768096"/>
          </a:xfrm>
          <a:prstGeom prst="ellipse">
            <a:avLst/>
          </a:prstGeom>
          <a:solidFill>
            <a:srgbClr val="4A433D"/>
          </a:solidFill>
          <a:ln/>
        </p:spPr>
      </p:sp>
      <p:sp>
        <p:nvSpPr>
          <p:cNvPr id="10" name="Text 8"/>
          <p:cNvSpPr/>
          <p:nvPr/>
        </p:nvSpPr>
        <p:spPr>
          <a:xfrm>
            <a:off x="3593592" y="21945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71800" y="314553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Bootloader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71800" y="3675888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512-byte sector loads Stage 2 from disk into memory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96712" y="2194560"/>
            <a:ext cx="768096" cy="768096"/>
          </a:xfrm>
          <a:prstGeom prst="ellipse">
            <a:avLst/>
          </a:prstGeom>
          <a:solidFill>
            <a:srgbClr val="4A433D"/>
          </a:solidFill>
          <a:ln/>
        </p:spPr>
      </p:sp>
      <p:sp>
        <p:nvSpPr>
          <p:cNvPr id="14" name="Text 12"/>
          <p:cNvSpPr/>
          <p:nvPr/>
        </p:nvSpPr>
        <p:spPr>
          <a:xfrm>
            <a:off x="5696712" y="21945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74920" y="314553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Mode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74920" y="3675888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GDT set up, A20 line enabled, CPU switches from 16-bit to 32-bit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99832" y="2194560"/>
            <a:ext cx="768096" cy="768096"/>
          </a:xfrm>
          <a:prstGeom prst="ellipse">
            <a:avLst/>
          </a:prstGeom>
          <a:solidFill>
            <a:srgbClr val="4A433D"/>
          </a:solidFill>
          <a:ln/>
        </p:spPr>
      </p:sp>
      <p:sp>
        <p:nvSpPr>
          <p:cNvPr id="18" name="Text 16"/>
          <p:cNvSpPr/>
          <p:nvPr/>
        </p:nvSpPr>
        <p:spPr>
          <a:xfrm>
            <a:off x="7799832" y="21945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78040" y="314553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Load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178040" y="3675888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image loaded to a fixed address and control jumps to it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902952" y="2194560"/>
            <a:ext cx="768096" cy="768096"/>
          </a:xfrm>
          <a:prstGeom prst="ellipse">
            <a:avLst/>
          </a:prstGeom>
          <a:solidFill>
            <a:srgbClr val="4A433D"/>
          </a:solidFill>
          <a:ln/>
        </p:spPr>
      </p:sp>
      <p:sp>
        <p:nvSpPr>
          <p:cNvPr id="22" name="Text 20"/>
          <p:cNvSpPr/>
          <p:nvPr/>
        </p:nvSpPr>
        <p:spPr>
          <a:xfrm>
            <a:off x="9902952" y="21945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81160" y="314553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Init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81160" y="3675888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manager, interrupt tables and drivers are initialized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4A433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31520"/>
            <a:ext cx="822960" cy="82296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4" name="Image 0" descr="/home/claude/bedrock_ppt/icon_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932688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A8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2960" y="21031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663440" y="1371600"/>
            <a:ext cx="6675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memory tracked with a bitmap frame allocator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Paging enabled to give each process its own virtual address space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heap backed by a simple first-fit allocator (kmalloc / kfree)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faults handled to detect invalid or unmapped access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4A433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31520"/>
            <a:ext cx="822960" cy="82296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4" name="Image 0" descr="/home/claude/bedrock_ppt/icon_settin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9144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A8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2960" y="21031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663440" y="1371600"/>
            <a:ext cx="6675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represented by a Process Control Block (PCB)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preemptive scheduler driven by the timer interrupt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switch saves and restores CPU registers between tasks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process states: ready, running, blocked, terminated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4A433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31520"/>
            <a:ext cx="822960" cy="82296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4" name="Image 0" descr="/home/claude/bedrock_ppt/icon_termin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9144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783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A8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Component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22960" y="21031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Shell &amp;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663440" y="1371600"/>
            <a:ext cx="6675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VGA text-mode driver for screen output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PS/2 keyboard driver feeding an input buffer via interrupts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command shell: run programs, list files, inspect memory</a:t>
            </a:r>
            <a:endParaRPr lang="en-US" sz="15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5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in-memory file system for reading and writing files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Tools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8992" y="1764792"/>
            <a:ext cx="502920" cy="502920"/>
          </a:xfrm>
          <a:prstGeom prst="ellipse">
            <a:avLst/>
          </a:prstGeom>
          <a:solidFill>
            <a:srgbClr val="B96F1E"/>
          </a:solidFill>
          <a:ln/>
        </p:spPr>
      </p:sp>
      <p:pic>
        <p:nvPicPr>
          <p:cNvPr id="5" name="Image 0" descr="/home/claude/bedrock_ppt/icon_cod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1892808"/>
            <a:ext cx="246888" cy="246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2377440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78992" y="2770632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and drivers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07992" y="15087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64024" y="1764792"/>
            <a:ext cx="502920" cy="502920"/>
          </a:xfrm>
          <a:prstGeom prst="ellipse">
            <a:avLst/>
          </a:prstGeom>
          <a:solidFill>
            <a:srgbClr val="B96F1E"/>
          </a:solidFill>
          <a:ln/>
        </p:spPr>
      </p:sp>
      <p:pic>
        <p:nvPicPr>
          <p:cNvPr id="10" name="Image 1" descr="/home/claude/bedrock_ppt/icon_cpu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892808"/>
            <a:ext cx="246888" cy="246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64024" y="2377440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x86 Assembly (NASM)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764024" y="2770632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Bootloader &amp; context switch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93024" y="15087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49056" y="1764792"/>
            <a:ext cx="502920" cy="502920"/>
          </a:xfrm>
          <a:prstGeom prst="ellipse">
            <a:avLst/>
          </a:prstGeom>
          <a:solidFill>
            <a:srgbClr val="B96F1E"/>
          </a:solidFill>
          <a:ln/>
        </p:spPr>
      </p:sp>
      <p:pic>
        <p:nvPicPr>
          <p:cNvPr id="15" name="Image 2" descr="/home/claude/bedrock_ppt/icon_box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1892808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49056" y="2377440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QEMU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449056" y="2770632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Emulation and testing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22960" y="3502152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78992" y="3758184"/>
            <a:ext cx="502920" cy="502920"/>
          </a:xfrm>
          <a:prstGeom prst="ellipse">
            <a:avLst/>
          </a:prstGeom>
          <a:solidFill>
            <a:srgbClr val="B96F1E"/>
          </a:solidFill>
          <a:ln/>
        </p:spPr>
      </p:sp>
      <p:pic>
        <p:nvPicPr>
          <p:cNvPr id="20" name="Image 3" descr="/home/claude/bedrock_ppt/icon_branc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008" y="3886200"/>
            <a:ext cx="246888" cy="2468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78992" y="4370832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GNU LD / GCC cross-compiler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1078992" y="4764024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and freestanding build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07992" y="3502152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764024" y="3758184"/>
            <a:ext cx="502920" cy="502920"/>
          </a:xfrm>
          <a:prstGeom prst="ellipse">
            <a:avLst/>
          </a:prstGeom>
          <a:solidFill>
            <a:srgbClr val="B96F1E"/>
          </a:solidFill>
          <a:ln/>
        </p:spPr>
      </p:sp>
      <p:pic>
        <p:nvPicPr>
          <p:cNvPr id="25" name="Image 4" descr="/home/claude/bedrock_ppt/icon_terminal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886200"/>
            <a:ext cx="246888" cy="2468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764024" y="4370832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GDB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764024" y="4764024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Kernel-level debugging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193024" y="3502152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449056" y="3758184"/>
            <a:ext cx="502920" cy="502920"/>
          </a:xfrm>
          <a:prstGeom prst="ellipse">
            <a:avLst/>
          </a:prstGeom>
          <a:solidFill>
            <a:srgbClr val="B96F1E"/>
          </a:solidFill>
          <a:ln/>
        </p:spPr>
      </p:sp>
      <p:pic>
        <p:nvPicPr>
          <p:cNvPr id="30" name="Image 5" descr="/home/claude/bedrock_ppt/icon_clo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7072" y="3886200"/>
            <a:ext cx="246888" cy="24688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449056" y="4370832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8449056" y="4764024"/>
            <a:ext cx="2916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automation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Learnings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50749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43000" y="169164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3000" y="237744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faults from an incorrect GDT setup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143000" y="342900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memory corruption with no debugger support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43000" y="448056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 when enabling preemptive switching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074920" cy="4297680"/>
          </a:xfrm>
          <a:prstGeom prst="roundRect">
            <a:avLst>
              <a:gd name="adj" fmla="val 1702"/>
            </a:avLst>
          </a:prstGeom>
          <a:solidFill>
            <a:srgbClr val="4A433D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69164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Taught Us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37744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byte of the boot path matters — there is no OS underneath to catch mistakes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0" y="342900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disciplined logging and QEMU + GDB workflows early pays off later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0" y="448056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Interrupts must be disabled around critical sections in the scheduler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Status &amp;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43000" y="2331720"/>
            <a:ext cx="9875520" cy="0"/>
          </a:xfrm>
          <a:prstGeom prst="line">
            <a:avLst/>
          </a:prstGeom>
          <a:noFill/>
          <a:ln w="25400">
            <a:solidFill>
              <a:srgbClr val="8A81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2011680"/>
            <a:ext cx="640080" cy="64008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5" name="Image 0" descr="/home/claude/bedrock_ppt/icon_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072" y="217627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B9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68680" y="3200400"/>
            <a:ext cx="1965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Bootloader, protected mode, VGA + keyboard drivers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657600" y="2011680"/>
            <a:ext cx="640080" cy="64008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9" name="Image 1" descr="/home/claude/bedrock_ppt/icon_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217627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971800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B9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2971800" y="3200400"/>
            <a:ext cx="1965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Physical/virtual memory manager and kernel heap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760720" y="2011680"/>
            <a:ext cx="640080" cy="640080"/>
          </a:xfrm>
          <a:prstGeom prst="ellipse">
            <a:avLst/>
          </a:prstGeom>
          <a:solidFill>
            <a:srgbClr val="4A433D"/>
          </a:solidFill>
          <a:ln/>
        </p:spPr>
      </p:sp>
      <p:pic>
        <p:nvPicPr>
          <p:cNvPr id="13" name="Image 2" descr="/home/claude/bedrock_ppt/icon_c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217627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74920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B9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5074920" y="3200400"/>
            <a:ext cx="1965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Preemptive scheduler and multitasking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863840" y="2011680"/>
            <a:ext cx="640080" cy="640080"/>
          </a:xfrm>
          <a:prstGeom prst="ellipse">
            <a:avLst/>
          </a:prstGeom>
          <a:solidFill>
            <a:srgbClr val="8A8175"/>
          </a:solidFill>
          <a:ln/>
        </p:spPr>
      </p:sp>
      <p:pic>
        <p:nvPicPr>
          <p:cNvPr id="17" name="Image 3" descr="/home/claude/bedrock_ppt/icon_branc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8432" y="2176272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78040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B9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7178040" y="3200400"/>
            <a:ext cx="1965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file system and expanded shell commands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9966960" y="2011680"/>
            <a:ext cx="640080" cy="640080"/>
          </a:xfrm>
          <a:prstGeom prst="ellipse">
            <a:avLst/>
          </a:prstGeom>
          <a:solidFill>
            <a:srgbClr val="8A8175"/>
          </a:solidFill>
          <a:ln/>
        </p:spPr>
      </p:sp>
      <p:pic>
        <p:nvPicPr>
          <p:cNvPr id="21" name="Image 4" descr="/home/claude/bedrock_ppt/icon_branc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1552" y="2176272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281160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B9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9281160" y="3200400"/>
            <a:ext cx="1965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User-mode processes with syscall interface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5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1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B26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12191695" cy="502920"/>
          </a:xfrm>
          <a:prstGeom prst="rect">
            <a:avLst/>
          </a:prstGeom>
          <a:solidFill>
            <a:srgbClr val="332D2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12191695" cy="502920"/>
          </a:xfrm>
          <a:prstGeom prst="rect">
            <a:avLst/>
          </a:prstGeom>
          <a:solidFill>
            <a:srgbClr val="3B34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868680" y="3566160"/>
            <a:ext cx="822960" cy="54864"/>
          </a:xfrm>
          <a:prstGeom prst="rect">
            <a:avLst/>
          </a:prstGeom>
          <a:solidFill>
            <a:srgbClr val="E8963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7490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1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 Bedrock OS — architecture, code, or what's next?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 i="0">
                <a:solidFill>
                  <a:srgbClr val="2B2723"/>
                </a:solidFill>
                <a:latin typeface="Cambria"/>
              </a:rPr>
              <a:t>Weekly Build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7043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6B655D"/>
                </a:solidFill>
                <a:latin typeface="Calibri"/>
              </a:rPr>
              <a:t>Course chapters mapped to weekly ShellForge milestones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00000"/>
          <a:ext cx="10546080" cy="385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700000"/>
                <a:gridCol w="4330000"/>
                <a:gridCol w="1786080"/>
                <a:gridCol w="3730000"/>
              </a:tblGrid>
              <a:tr h="5500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WK</a:t>
                      </a:r>
                    </a:p>
                  </a:txBody>
                  <a:tcPr marL="137160" marR="137160" marT="45720" marB="45720" anchor="ctr">
                    <a:solidFill>
                      <a:srgbClr val="2B27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CHAPTER</a:t>
                      </a:r>
                    </a:p>
                  </a:txBody>
                  <a:tcPr marL="137160" marR="137160" marT="45720" marB="45720" anchor="ctr">
                    <a:solidFill>
                      <a:srgbClr val="2B27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MODULE · CO</a:t>
                      </a:r>
                    </a:p>
                  </a:txBody>
                  <a:tcPr marL="137160" marR="137160" marT="45720" marB="45720" anchor="ctr">
                    <a:solidFill>
                      <a:srgbClr val="2B272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SHELLFORGE MILESTONE</a:t>
                      </a:r>
                    </a:p>
                  </a:txBody>
                  <a:tcPr marL="137160" marR="137160" marT="45720" marB="45720" anchor="ctr">
                    <a:solidFill>
                      <a:srgbClr val="2B2723"/>
                    </a:solidFill>
                  </a:tcPr>
                </a:tc>
              </a:tr>
              <a:tr h="550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B96F1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37160" marR="137160" marT="45720" marB="4572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2723"/>
                          </a:solidFill>
                          <a:latin typeface="Calibri"/>
                        </a:rPr>
                        <a:t>The Machine Beneath the Prompt</a:t>
                      </a:r>
                    </a:p>
                  </a:txBody>
                  <a:tcPr marL="137160" marR="137160" marT="45720" marB="4572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2723"/>
                          </a:solidFill>
                          <a:latin typeface="Calibri"/>
                        </a:rPr>
                        <a:t>M1·CO1</a:t>
                      </a:r>
                    </a:p>
                  </a:txBody>
                  <a:tcPr marL="137160" marR="137160" marT="45720" marB="4572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2723"/>
                          </a:solidFill>
                          <a:latin typeface="Calibri"/>
                        </a:rPr>
                        <a:t>REPL loop, repo, Makefile</a:t>
                      </a:r>
                    </a:p>
                  </a:txBody>
                  <a:tcPr marL="137160" marR="137160" marT="45720" marB="45720" anchor="ctr">
                    <a:solidFill>
                      <a:srgbClr val="F4F1EC"/>
                    </a:solidFill>
                  </a:tcPr>
                </a:tc>
              </a:tr>
              <a:tr h="550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B96F1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37160" marR="137160" marT="45720" marB="45720" anchor="ctr">
                    <a:solidFill>
                      <a:srgbClr val="ECE6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2723"/>
                          </a:solidFill>
                          <a:latin typeface="Calibri"/>
                        </a:rPr>
                        <a:t>The C Toolchain &amp; Memory Model</a:t>
                      </a:r>
                    </a:p>
                  </a:txBody>
                  <a:tcPr marL="137160" marR="137160" marT="45720" marB="45720" anchor="ctr">
                    <a:solidFill>
                      <a:srgbClr val="ECE6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2723"/>
                          </a:solidFill>
                          <a:latin typeface="Calibri"/>
                        </a:rPr>
                        <a:t>M1·CO1</a:t>
                      </a:r>
                    </a:p>
                  </a:txBody>
                  <a:tcPr marL="137160" marR="137160" marT="45720" marB="45720" anchor="ctr">
                    <a:solidFill>
                      <a:srgbClr val="ECE6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2723"/>
                          </a:solidFill>
                          <a:latin typeface="Calibri"/>
                        </a:rPr>
                        <a:t>Dynamic string/vector types</a:t>
                      </a:r>
                    </a:p>
                  </a:txBody>
                  <a:tcPr marL="137160" marR="137160" marT="45720" marB="45720" anchor="ctr">
                    <a:solidFill>
                      <a:srgbClr val="ECE6D9"/>
                    </a:solidFill>
                  </a:tcPr>
                </a:tc>
              </a:tr>
              <a:tr h="550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B96F1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37160" marR="137160" marT="45720" marB="4572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2723"/>
                          </a:solidFill>
                          <a:latin typeface="Calibri"/>
                        </a:rPr>
                        <a:t>The Parser</a:t>
                      </a:r>
                    </a:p>
                  </a:txBody>
                  <a:tcPr marL="137160" marR="137160" marT="45720" marB="4572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2723"/>
                          </a:solidFill>
                          <a:latin typeface="Calibri"/>
                        </a:rPr>
                        <a:t>M2·CO2</a:t>
                      </a:r>
                    </a:p>
                  </a:txBody>
                  <a:tcPr marL="137160" marR="137160" marT="45720" marB="4572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2723"/>
                          </a:solidFill>
                          <a:latin typeface="Calibri"/>
                        </a:rPr>
                        <a:t>Tokenizer + pipeline AST</a:t>
                      </a:r>
                    </a:p>
                  </a:txBody>
                  <a:tcPr marL="137160" marR="137160" marT="45720" marB="45720" anchor="ctr">
                    <a:solidFill>
                      <a:srgbClr val="F4F1EC"/>
                    </a:solidFill>
                  </a:tcPr>
                </a:tc>
              </a:tr>
              <a:tr h="550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B96F1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37160" marR="137160" marT="45720" marB="45720" anchor="ctr">
                    <a:solidFill>
                      <a:srgbClr val="ECE6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2723"/>
                          </a:solidFill>
                          <a:latin typeface="Calibri"/>
                        </a:rPr>
                        <a:t>Processes &amp; Process Control</a:t>
                      </a:r>
                    </a:p>
                  </a:txBody>
                  <a:tcPr marL="137160" marR="137160" marT="45720" marB="45720" anchor="ctr">
                    <a:solidFill>
                      <a:srgbClr val="ECE6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2723"/>
                          </a:solidFill>
                          <a:latin typeface="Calibri"/>
                        </a:rPr>
                        <a:t>M2·CO2</a:t>
                      </a:r>
                    </a:p>
                  </a:txBody>
                  <a:tcPr marL="137160" marR="137160" marT="45720" marB="45720" anchor="ctr">
                    <a:solidFill>
                      <a:srgbClr val="ECE6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2723"/>
                          </a:solidFill>
                          <a:latin typeface="Calibri"/>
                        </a:rPr>
                        <a:t>Run one command (fork/exec/wait)</a:t>
                      </a:r>
                    </a:p>
                  </a:txBody>
                  <a:tcPr marL="137160" marR="137160" marT="45720" marB="45720" anchor="ctr">
                    <a:solidFill>
                      <a:srgbClr val="ECE6D9"/>
                    </a:solidFill>
                  </a:tcPr>
                </a:tc>
              </a:tr>
              <a:tr h="550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B96F1E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37160" marR="137160" marT="45720" marB="4572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2723"/>
                          </a:solidFill>
                          <a:latin typeface="Calibri"/>
                        </a:rPr>
                        <a:t>fork / exec / wait in Anger</a:t>
                      </a:r>
                    </a:p>
                  </a:txBody>
                  <a:tcPr marL="137160" marR="137160" marT="45720" marB="4572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2723"/>
                          </a:solidFill>
                          <a:latin typeface="Calibri"/>
                        </a:rPr>
                        <a:t>M3·CO3</a:t>
                      </a:r>
                    </a:p>
                  </a:txBody>
                  <a:tcPr marL="137160" marR="137160" marT="45720" marB="45720" anchor="ctr">
                    <a:solidFill>
                      <a:srgbClr val="F4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2723"/>
                          </a:solidFill>
                          <a:latin typeface="Calibri"/>
                        </a:rPr>
                        <a:t>PATH, built-ins, exit codes</a:t>
                      </a:r>
                    </a:p>
                  </a:txBody>
                  <a:tcPr marL="137160" marR="137160" marT="45720" marB="45720" anchor="ctr">
                    <a:solidFill>
                      <a:srgbClr val="F4F1EC"/>
                    </a:solidFill>
                  </a:tcPr>
                </a:tc>
              </a:tr>
              <a:tr h="550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B96F1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37160" marR="137160" marT="45720" marB="45720" anchor="ctr">
                    <a:solidFill>
                      <a:srgbClr val="ECE6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2723"/>
                          </a:solidFill>
                          <a:latin typeface="Calibri"/>
                        </a:rPr>
                        <a:t>Signals &amp; Async Control</a:t>
                      </a:r>
                    </a:p>
                  </a:txBody>
                  <a:tcPr marL="137160" marR="137160" marT="45720" marB="45720" anchor="ctr">
                    <a:solidFill>
                      <a:srgbClr val="ECE6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2723"/>
                          </a:solidFill>
                          <a:latin typeface="Calibri"/>
                        </a:rPr>
                        <a:t>M3·CO3</a:t>
                      </a:r>
                    </a:p>
                  </a:txBody>
                  <a:tcPr marL="137160" marR="137160" marT="45720" marB="45720" anchor="ctr">
                    <a:solidFill>
                      <a:srgbClr val="ECE6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B2723"/>
                          </a:solidFill>
                          <a:latin typeface="Calibri"/>
                        </a:rPr>
                        <a:t>Ctrl-C/Z, SIGCHLD reaper</a:t>
                      </a:r>
                    </a:p>
                  </a:txBody>
                  <a:tcPr marL="137160" marR="137160" marT="45720" marB="45720" anchor="ctr">
                    <a:solidFill>
                      <a:srgbClr val="ECE6D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6B655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2026-08-06T08:04:22Z</dcterms:created>
  <dcterms:modified xsi:type="dcterms:W3CDTF">2026-08-06T08:04:22Z</dcterms:modified>
</cp:coreProperties>
</file>